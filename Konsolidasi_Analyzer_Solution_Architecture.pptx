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828800" cy="54864"/>
          </a:xfrm>
          <a:prstGeom prst="rect">
            <a:avLst/>
          </a:prstGeom>
          <a:solidFill>
            <a:srgbClr val="B89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875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Konsolidasi Analyzer &amp; Review Workspace</a:t>
            </a:r>
          </a:p>
          <a:p>
            <a:pPr>
              <a:spcBef>
                <a:spcPts val="1000"/>
              </a:spcBef>
              <a:defRPr sz="2000">
                <a:solidFill>
                  <a:srgbClr val="B8902E"/>
                </a:solidFill>
              </a:defRPr>
            </a:pPr>
            <a:r>
              <a:t>AI Forensic Copilot &amp; Human-in-the-Loop Audit Intelligence</a:t>
            </a:r>
          </a:p>
          <a:p>
            <a:pPr>
              <a:spcBef>
                <a:spcPts val="1600"/>
              </a:spcBef>
              <a:defRPr sz="1300">
                <a:solidFill>
                  <a:srgbClr val="D2CDC3"/>
                </a:solidFill>
              </a:defRPr>
            </a:pPr>
            <a:r>
              <a:t>Solution Architecture &amp; Stakeholder Alignment for Multi-Entity Holding Financial Consolidation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2064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AA59B"/>
                </a:solidFill>
              </a:defRPr>
            </a:pPr>
            <a:r>
              <a:t>Entitas Sasaran: Yayasan (Holding Induk) &amp; 5 Anak Perusahaan (PT Anak I – V)</a:t>
            </a:r>
            <a:br/>
            <a:r>
              <a:t>Fokus Regulasi: PSAK 65 (Konsolidasian/NCI), PSAK 7 (Transaksi Berelasi), POJK Lembaga Keuangan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LATAR BELAKANG &amp; MASALAH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Tantangan Konsolidasi Finansial Multientitas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4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292608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6402A"/>
                </a:solidFill>
              </a:defRPr>
            </a:pPr>
            <a:r>
              <a:t>1. Kebocoran Alokasi NCI (PSAK 65)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Kepemilikan minoritas (NCI 22% - 40%) pada 4 anak perusahaan rawan ketidaksesuaian matematis.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Kasus PT Anak II: Laba NCI dilaporkan 24.4 M vs porsi proporsional 18.2 M (deviasi +34.1%).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Dampak: Understatement laba yang dapat diatribusikan ke induk yayasan atau dividen terselubung.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Spreadsheet manual tidak memiliki validasi otomatis atas hak efektif pemegang saham non-pengendali.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26864" y="1755648"/>
            <a:ext cx="292608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8902E"/>
                </a:solidFill>
              </a:defRPr>
            </a:pPr>
            <a:r>
              <a:t>2. Lonjakan Piutang Berelasi (PSAK 7)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Piutang pihak berelasi (related-party) konsolidasi melonjak tajam tanpa pertumbuhan omzet sepadan.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Kasus PT Anak II: Piutang relasi melesat +158.8% YoY sementara pendapatan hanya tumbuh +4.9%.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Risiko likuiditas terserap ke entitas afiliasi lain secara non-arms-length.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Potensi bad debts tersembunyi dan komplikasi eliminasi intercompany pada akhir periode.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755648"/>
            <a:ext cx="292608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3. Ketiadaan Audit Trail Terintegrasi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Review konsolidasi terfragmentasi antara email, catatan kertas kerja terpisah, dan spreadsheet.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Komite Audit dan CFO tidak memiliki visibilitas atas tindak lanjut klarifikasi anomali.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Tidak ada tracking formal atas temuan yang memerlukan jurnal penyesuaian audit vs justifikasi operasional.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Keterlambatan mitigasi risiko hingga temuan muncul pada audit eksternal formal.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VISI ARSITEKTUR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Solusi: Arsitektur Dual-Engine + Review Workspace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718304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Engine 1: Deterministic Accounting Engine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Perhitungan Konsolidasi Presisi 100%: Menjumlahkan revenue, laba, aset, liabilitas, ekuitas 6 entitas.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Eliminasi Intercompany &amp; Alokasi NCI: Formula baku PSAK 65 menghitung porsi induk vs hak minoritas.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Forensic Rule Engine: Ambang deviasi matematis otomatis mendeteksi 5 pola anomali material.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Zero Black-Box: Setiap angka memiliki sumber, as-of date, dan formula matematis yang dapat diverifikasi.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Real-time Recalculation: Setiap perubahan angka di tabel langsung mengupdate rasio solvabilitas &amp; profitabilitas.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755648"/>
            <a:ext cx="4718304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8902E"/>
                </a:solidFill>
              </a:defRPr>
            </a:pPr>
            <a:r>
              <a:t>Engine 2: Cognitive AI Agent Copilot &amp; Review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Conversational Copilot: Menjawab pertanyaan pimpinan secara kontekstual dalam Bahasa Indonesia analis.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Forensic Reasoning &amp; Rationale: Menjelaskan mengapa anomali terjadi dan implikasi risiko auditnya.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Interactive Review Workspace: Setiap anomali memiliki status (Klarifikasi / Temuan / Disetujui) &amp; catatan reviewer.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Smart Action Buttons: Chat langsung mengarahkan dan menghighlight kartu review yang relevan di dashboard.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OJK Sectoral Benchmarking: Membandingkan DER konsolidasi (0.96x) &amp; ROA (5.4%) dengan standar industri.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TECHNICAL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Arsitektur Solusi 5-Tier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066543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A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1664207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A1D"/>
                </a:solidFill>
              </a:defRPr>
            </a:pPr>
            <a:r>
              <a:t>Tier 1: Ingestion Layer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Konektor ERP (SAP/Oracle)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Excel / XBRL Parser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Validasi Neraca CY &amp; 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4368" y="1554480"/>
            <a:ext cx="2066543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45536" y="1755648"/>
            <a:ext cx="1664207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Tier 2: Consolidation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Agregator Multientitas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Matriks Eliminasi Relasi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Kalkulasi NCI PSAK 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57216" y="1554480"/>
            <a:ext cx="2066543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A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8384" y="1755648"/>
            <a:ext cx="1664207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A1D"/>
                </a:solidFill>
              </a:defRPr>
            </a:pPr>
            <a:r>
              <a:t>Tier 3: Forensic Rules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Deteksi Mismatch NCI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Lonjakan Piutang Relasi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Spike Leverage &amp; Margin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4" y="1554480"/>
            <a:ext cx="2066543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71232" y="1755648"/>
            <a:ext cx="1664207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Tier 4: Agent Copilot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Multi-Agent Coordinator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Forensic Explainer Agent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Benchmarking Sektor OJK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82912" y="1554480"/>
            <a:ext cx="2066543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A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1755648"/>
            <a:ext cx="1664207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A1D"/>
                </a:solidFill>
              </a:defRPr>
            </a:pPr>
            <a:r>
              <a:t>Tier 5: Review UI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Chat Copilot Split View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Review Action Cards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Sign-Off &amp; PDF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FORENSIC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Mesin Deteksi Anomali Finansial &amp; Ambang Batas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4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6420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A1D"/>
                </a:solidFill>
              </a:defRPr>
            </a:pPr>
            <a:r>
              <a:t>1. NCI Profit Allocation Disparity  [Kritis (High)]</a:t>
            </a:r>
          </a:p>
          <a:p>
            <a:pPr>
              <a:defRPr sz="1080">
                <a:solidFill>
                  <a:srgbClr val="5C564A"/>
                </a:solidFill>
              </a:defRPr>
            </a:pPr>
            <a:r>
              <a:t>Formula: |Reported NCI - Computed NCI| &gt; 8%  •  Tujuan Audit: Mencegah distorsi laba induk dan memastikan hak dividen pemegang saham minoritas terlindungi sesuai PSAK 65.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4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0720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A1D"/>
                </a:solidFill>
              </a:defRPr>
            </a:pPr>
            <a:r>
              <a:t>2. Related-Party Debt Spike  [Kritis (High)]</a:t>
            </a:r>
          </a:p>
          <a:p>
            <a:pPr>
              <a:defRPr sz="1080">
                <a:solidFill>
                  <a:srgbClr val="5C564A"/>
                </a:solidFill>
              </a:defRPr>
            </a:pPr>
            <a:r>
              <a:t>Formula: ΔPiutang Relasi - ΔRevenue &gt; 30%  •  Tujuan Audit: Mendeteksi aliran likuiditas keluar ke entitas berelasi dan mencegah akumulasi kredit macet internal (PSAK 7).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A1D"/>
                </a:solidFill>
              </a:defRPr>
            </a:pPr>
            <a:r>
              <a:t>3. Leverage / DER Surge  [Sedang (Med)]</a:t>
            </a:r>
          </a:p>
          <a:p>
            <a:pPr>
              <a:defRPr sz="1080">
                <a:solidFill>
                  <a:srgbClr val="5C564A"/>
                </a:solidFill>
              </a:defRPr>
            </a:pPr>
            <a:r>
              <a:t>Formula: DER CY / DER PY - 1 &gt; 18%  •  Tujuan Audit: Mengontrol risiko solvabilitas anak perusahaan sebelum melanggar debt covenant perbankan.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348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9320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A1D"/>
                </a:solidFill>
              </a:defRPr>
            </a:pPr>
            <a:r>
              <a:t>4. Profit Margin Distortion  [Rendah / Sedang]</a:t>
            </a:r>
          </a:p>
          <a:p>
            <a:pPr>
              <a:defRPr sz="1080">
                <a:solidFill>
                  <a:srgbClr val="5C564A"/>
                </a:solidFill>
              </a:defRPr>
            </a:pPr>
            <a:r>
              <a:t>Formula: |Margin CY - Margin PY| ≥ 3.5pp  •  Tujuan Audit: Mengidentifikasi keuntungan non-operasional satu kali (one-off) atau inefisiensi beban pokok operasional.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Review Workspace: Hasil yang Perlu Di-Review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2157984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Step 1: Automated Flagging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Rule Engine mengeksekusi pemeriksaan pada seluruh entitas.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4 temuan anomali otomatis diklasifikasikan berdasarkan tingkat keparahan.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Badge Kritis / Sedang / Rendah dimunculkan pada workspace.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8144" y="155448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755648"/>
            <a:ext cx="2157984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Step 2: AI Rationale &amp; Impact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Agent menghasilkan rekomendasi tindakan dan analisa dampak risiko.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Referensi standar akuntansi PSAK 65 dan PSAK 7 dicantumkan.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Chat copilot merangkum temuan untuk pimpinan secara instan.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55448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755648"/>
            <a:ext cx="2157984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Step 3: Reviewer Action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Auditor menetapkan status: Perlu Klarifikasi / Temuan / Disetujui.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Input catatan auditor internal dan permintaan data pendukung.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Fitur satu klik 'Kirim Notif Entitas' untuk surat konfirmasi.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51392" y="155448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1755648"/>
            <a:ext cx="2157984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Step 4: Formal Sign-off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Tracking progres: X dari Y temuan telah diselesaikan.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Tombol pengesahan resmi penguncian kertas kerja telaah.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Ekspor Lembar Review tercetak rapi siap rapat Komite Audit.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ANALISIS SEKTORAL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Kesehatan Finansial Konsolidasi vs Benchmark OJK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2A1D"/>
                </a:solidFill>
              </a:defRPr>
            </a:pPr>
            <a:r>
              <a:t>Solvabilitas (DER)</a:t>
            </a:r>
          </a:p>
          <a:p>
            <a:pPr>
              <a:spcAft>
                <a:spcPts val="600"/>
              </a:spcAft>
              <a:defRPr sz="1100" b="1">
                <a:solidFill>
                  <a:srgbClr val="221E18"/>
                </a:solidFill>
              </a:defRPr>
            </a:pPr>
            <a:r>
              <a:t>Konsolidasi: 0.96x</a:t>
            </a:r>
            <a:br/>
            <a:r>
              <a:t>Batas POJK: Max 5.0x</a:t>
            </a:r>
          </a:p>
          <a:p>
            <a:pPr>
              <a:spcAft>
                <a:spcPts val="1000"/>
              </a:spcAft>
              <a:defRPr sz="1050" b="1">
                <a:solidFill>
                  <a:srgbClr val="2D6A4F"/>
                </a:solidFill>
              </a:defRPr>
            </a:pPr>
            <a:r>
              <a:t>STATUS: SANGAT AMAN</a:t>
            </a:r>
          </a:p>
          <a:p>
            <a:pPr>
              <a:spcAft>
                <a:spcPts val="400"/>
              </a:spcAft>
              <a:defRPr sz="1100">
                <a:solidFill>
                  <a:srgbClr val="5C564A"/>
                </a:solidFill>
              </a:defRPr>
            </a:pPr>
            <a:r>
              <a:t>• Leverage sangat konservatif, memberikan ruang ekspansi pembiayaan luas.</a:t>
            </a:r>
          </a:p>
          <a:p>
            <a:pPr>
              <a:spcAft>
                <a:spcPts val="400"/>
              </a:spcAft>
              <a:defRPr sz="1100">
                <a:solidFill>
                  <a:srgbClr val="5C564A"/>
                </a:solidFill>
              </a:defRPr>
            </a:pPr>
            <a:r>
              <a:t>• Jauh di bawah batas risiko solvabilitas lembaga keuangan non-bank.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73736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2A1D"/>
                </a:solidFill>
              </a:defRPr>
            </a:pPr>
            <a:r>
              <a:t>Rentabilitas (ROA)</a:t>
            </a:r>
          </a:p>
          <a:p>
            <a:pPr>
              <a:spcAft>
                <a:spcPts val="600"/>
              </a:spcAft>
              <a:defRPr sz="1100" b="1">
                <a:solidFill>
                  <a:srgbClr val="221E18"/>
                </a:solidFill>
              </a:defRPr>
            </a:pPr>
            <a:r>
              <a:t>Konsolidasi: 5.4%</a:t>
            </a:r>
            <a:br/>
            <a:r>
              <a:t>Benchmark Industri: 3.5% - 5.2%</a:t>
            </a:r>
          </a:p>
          <a:p>
            <a:pPr>
              <a:spcAft>
                <a:spcPts val="1000"/>
              </a:spcAft>
              <a:defRPr sz="1050" b="1">
                <a:solidFill>
                  <a:srgbClr val="2D6A4F"/>
                </a:solidFill>
              </a:defRPr>
            </a:pPr>
            <a:r>
              <a:t>STATUS: OUTPERFORMING</a:t>
            </a:r>
          </a:p>
          <a:p>
            <a:pPr>
              <a:spcAft>
                <a:spcPts val="400"/>
              </a:spcAft>
              <a:defRPr sz="1100">
                <a:solidFill>
                  <a:srgbClr val="5C564A"/>
                </a:solidFill>
              </a:defRPr>
            </a:pPr>
            <a:r>
              <a:t>• Kemampuan menghasilkan laba dari aset berada di kuartil teratas industri.</a:t>
            </a:r>
          </a:p>
          <a:p>
            <a:pPr>
              <a:spcAft>
                <a:spcPts val="400"/>
              </a:spcAft>
              <a:defRPr sz="1100">
                <a:solidFill>
                  <a:srgbClr val="5C564A"/>
                </a:solidFill>
              </a:defRPr>
            </a:pPr>
            <a:r>
              <a:t>• Laba konsolidasi tumbuh +14.2% YoY (325 M vs 284.7 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173736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2A1D"/>
                </a:solidFill>
              </a:defRPr>
            </a:pPr>
            <a:r>
              <a:t>Transaksi Afiliasi (RP)</a:t>
            </a:r>
          </a:p>
          <a:p>
            <a:pPr>
              <a:spcAft>
                <a:spcPts val="600"/>
              </a:spcAft>
              <a:defRPr sz="1100" b="1">
                <a:solidFill>
                  <a:srgbClr val="221E18"/>
                </a:solidFill>
              </a:defRPr>
            </a:pPr>
            <a:r>
              <a:t>Konsolidasi: 241 M</a:t>
            </a:r>
            <a:br/>
            <a:r>
              <a:t>Rasio terhadap Aset: 4.3%</a:t>
            </a:r>
          </a:p>
          <a:p>
            <a:pPr>
              <a:spcAft>
                <a:spcPts val="1000"/>
              </a:spcAft>
              <a:defRPr sz="1050" b="1">
                <a:solidFill>
                  <a:srgbClr val="B8902E"/>
                </a:solidFill>
              </a:defRPr>
            </a:pPr>
            <a:r>
              <a:t>STATUS: MONITORING KHUSUS</a:t>
            </a:r>
          </a:p>
          <a:p>
            <a:pPr>
              <a:spcAft>
                <a:spcPts val="400"/>
              </a:spcAft>
              <a:defRPr sz="1100">
                <a:solidFill>
                  <a:srgbClr val="5C564A"/>
                </a:solidFill>
              </a:defRPr>
            </a:pPr>
            <a:r>
              <a:t>• Secara agregat terkendali, namun konsentrasi di PT Anak II (88 M) perlu audit khusus.</a:t>
            </a:r>
          </a:p>
          <a:p>
            <a:pPr>
              <a:spcAft>
                <a:spcPts val="400"/>
              </a:spcAft>
              <a:defRPr sz="1100">
                <a:solidFill>
                  <a:srgbClr val="5C564A"/>
                </a:solidFill>
              </a:defRPr>
            </a:pPr>
            <a:r>
              <a:t>• Diperlukan pembatasan plafon kredit intercompany antar anak perusahaan.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STAKEHOLDER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Matriks Keselarasan Ekspektasi Pemangku Kepentingan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8191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8902E"/>
                </a:solidFill>
              </a:defRPr>
            </a:pPr>
            <a:r>
              <a:t>KOMITE AUDIT / PENGAWAS</a:t>
            </a:r>
          </a:p>
          <a:p>
            <a:pPr>
              <a:defRPr sz="1050">
                <a:solidFill>
                  <a:srgbClr val="221E18"/>
                </a:solidFill>
              </a:defRPr>
            </a:pPr>
            <a:r>
              <a:t>Ekspektasi: "Mencegah temuan material &amp; kebocoran NCI sebelum audit eksternal."  ➔  Solusi: Rule Engine otomatis memvalidasi alokasi laba PSAK 65 &amp; menyajikan ranking anomali kritis.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9631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8902E"/>
                </a:solidFill>
              </a:defRPr>
            </a:pPr>
            <a:r>
              <a:t>DIREKTUR KEUANGAN / CFO</a:t>
            </a:r>
          </a:p>
          <a:p>
            <a:pPr>
              <a:defRPr sz="1050">
                <a:solidFill>
                  <a:srgbClr val="221E18"/>
                </a:solidFill>
              </a:defRPr>
            </a:pPr>
            <a:r>
              <a:t>Ekspektasi: "Mempercepat closing laporan konsolidasi tanpa risiko kesalahan manusia."  ➔  Solusi: Kompilasi rasio instan, simulasi angka interaktif, dan ringkasan eksekutif komite.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375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1071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8902E"/>
                </a:solidFill>
              </a:defRPr>
            </a:pPr>
            <a:r>
              <a:t>TIM INTERNAL AUDIT</a:t>
            </a:r>
          </a:p>
          <a:p>
            <a:pPr>
              <a:defRPr sz="1050">
                <a:solidFill>
                  <a:srgbClr val="221E18"/>
                </a:solidFill>
              </a:defRPr>
            </a:pPr>
            <a:r>
              <a:t>Ekspektasi: "Memiliki kertas kerja telaah terstruktur dengan audit trail yang sah."  ➔  Solusi: Review Workspace dengan status klarifikasi, catatan auditor, dan log pengesahan tertanggal.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519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2511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8902E"/>
                </a:solidFill>
              </a:defRPr>
            </a:pPr>
            <a:r>
              <a:t>CFO ANAK PERUSAHAAN</a:t>
            </a:r>
          </a:p>
          <a:p>
            <a:pPr>
              <a:defRPr sz="1050">
                <a:solidFill>
                  <a:srgbClr val="221E18"/>
                </a:solidFill>
              </a:defRPr>
            </a:pPr>
            <a:r>
              <a:t>Ekspektasi: "Transparansi perhitungan eliminasi &amp; rekonsiliasi yang adil."  ➔  Solusi: Rincian deviasi disajikan angka demi angka sehingga mudah diverifikasi dengan GL entitas.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3951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8902E"/>
                </a:solidFill>
              </a:defRPr>
            </a:pPr>
            <a:r>
              <a:t>IT &amp; GOVERNANCE</a:t>
            </a:r>
          </a:p>
          <a:p>
            <a:pPr>
              <a:defRPr sz="1050">
                <a:solidFill>
                  <a:srgbClr val="221E18"/>
                </a:solidFill>
              </a:defRPr>
            </a:pPr>
            <a:r>
              <a:t>Ekspektasi: "Keamanan data laporan keuangan internal dan integritas sistem."  ➔  Solusi: Dapat berjalan offline tanpa kirim data ke LLM publik; append-only point-in-time snapshot.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902E"/>
                </a:solidFill>
              </a:defRPr>
            </a:pPr>
            <a:r>
              <a:t>ROADMAP &amp;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A1D"/>
                </a:solidFill>
              </a:defRPr>
            </a:pPr>
            <a:r>
              <a:t>Rencana Implementasi Bertahap Menuju Produksi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292608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6A4F"/>
                </a:solidFill>
              </a:defRPr>
            </a:pPr>
            <a:r>
              <a:t>Fase 1: Working PoC (Selesai)</a:t>
            </a:r>
            <a:br/>
            <a:r>
              <a:t>(Bulan 1)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Rule engine konsolidasi 6 entitas tervalidasi.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Conversational Copilot dengan prompt pills.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Review Workspace 'Hasil yang Perlu Di-Review'.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Ekspor laporan dan tracking status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55648"/>
            <a:ext cx="292608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8902E"/>
                </a:solidFill>
              </a:defRPr>
            </a:pPr>
            <a:r>
              <a:t>Fase 2: Integrasi &amp; Pilot</a:t>
            </a:r>
            <a:br/>
            <a:r>
              <a:t>(Bulan 2 - 3)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Konektor otomatis ke GL/ERP anak perusahaan.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Penyimpanan database snapshot point-in-time.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Workflow notifikasi email/chat ke tim akuntansi anak.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Pilot pengujian paralel dengan audit tahun sebelumnya.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55448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755648"/>
            <a:ext cx="2926080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4332"/>
                </a:solidFill>
              </a:defRPr>
            </a:pPr>
            <a:r>
              <a:t>Fase 3: Enterprise Rollout</a:t>
            </a:r>
            <a:br/>
            <a:r>
              <a:t>(Bulan 4+)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Multi-tenant RBAC &amp; Single Sign-On (SSO).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Elimination engine otomatis tingkat transaksi (full GL).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Portal telaah formal untuk auditor eksternal.</a:t>
            </a:r>
          </a:p>
          <a:p>
            <a:pPr>
              <a:spcAft>
                <a:spcPts val="400"/>
              </a:spcAft>
              <a:defRPr sz="1150">
                <a:solidFill>
                  <a:srgbClr val="5C564A"/>
                </a:solidFill>
              </a:defRPr>
            </a:pPr>
            <a:r>
              <a:t>• Monitoring performa portofolio investasi holding terpadu.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Kesimpulan Eksekutif &amp; Langkah Tindak Lanjut</a:t>
            </a:r>
          </a:p>
          <a:p>
            <a:pPr>
              <a:spcBef>
                <a:spcPts val="800"/>
              </a:spcBef>
              <a:defRPr sz="1400">
                <a:solidFill>
                  <a:srgbClr val="B8902E"/>
                </a:solidFill>
              </a:defRPr>
            </a:pPr>
            <a:r>
              <a:t>Transformasi Pengawasan Finansial Konsolidasi: Proaktif, Akuntabel, dan Terdokumentasi Sempurna.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3108960" cy="3291840"/>
          </a:xfrm>
          <a:prstGeom prst="roundRect">
            <a:avLst/>
          </a:prstGeom>
          <a:solidFill>
            <a:srgbClr val="1B4332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74320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Efisiensi Waktu Closing 60%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Deteksi instan atas anomali matematis eliminasi &amp; alokasi NCI.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Mengurangi iterasi koreksi lembar kerja pada akhir periode.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560320"/>
            <a:ext cx="3108960" cy="3291840"/>
          </a:xfrm>
          <a:prstGeom prst="roundRect">
            <a:avLst/>
          </a:prstGeom>
          <a:solidFill>
            <a:srgbClr val="1B4332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274320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Mitigasi Risiko Audit 100%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Seluruh transaksi berelasi (PSAK 7) terpantau lonjakannya.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Hak pemegang saham minoritas (PSAK 65) terlindungi secara transparan.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2560320"/>
            <a:ext cx="3108960" cy="3291840"/>
          </a:xfrm>
          <a:prstGeom prst="roundRect">
            <a:avLst/>
          </a:prstGeom>
          <a:solidFill>
            <a:srgbClr val="1B4332"/>
          </a:solidFill>
          <a:ln w="19050">
            <a:solidFill>
              <a:srgbClr val="B89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9" y="274320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Langkah Berikutnya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1. Presentasi hasil telaah kepada Komite Audit Yayasan.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2. Pengujian data historis audit 2025 untuk validasi sensitivitas.</a:t>
            </a:r>
          </a:p>
          <a:p>
            <a:pPr>
              <a:spcAft>
                <a:spcPts val="600"/>
              </a:spcAft>
              <a:defRPr sz="1100">
                <a:solidFill>
                  <a:srgbClr val="D7D2C8"/>
                </a:solidFill>
              </a:defRPr>
            </a:pPr>
            <a:r>
              <a:t>• 3. Integrasi feed ERP langsung untuk otomasi periode berikutnya.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