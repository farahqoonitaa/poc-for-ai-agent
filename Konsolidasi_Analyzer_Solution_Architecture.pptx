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73152" cy="34747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8214"/>
                </a:solidFill>
              </a:defRPr>
            </a:pPr>
            <a:r>
              <a:t>ENTERPRISE SOLUTION ARCHITECTURE &amp; STAKEHOLDER ALIGNMENT</a:t>
            </a:r>
          </a:p>
          <a:p>
            <a:pPr>
              <a:spcBef>
                <a:spcPts val="800"/>
              </a:spcBef>
              <a:defRPr sz="3200" b="1">
                <a:solidFill>
                  <a:srgbClr val="0F172A"/>
                </a:solidFill>
              </a:defRPr>
            </a:pPr>
            <a:r>
              <a:t>Financial Consolidation Analyzer &amp; Review Workspace</a:t>
            </a:r>
          </a:p>
          <a:p>
            <a:pPr>
              <a:spcBef>
                <a:spcPts val="800"/>
              </a:spcBef>
              <a:defRPr sz="1800" b="1">
                <a:solidFill>
                  <a:srgbClr val="1B4332"/>
                </a:solidFill>
              </a:defRPr>
            </a:pPr>
            <a:r>
              <a:t>AI Forensic Copilot &amp; Human-in-the-Loop Audit Intelligence</a:t>
            </a:r>
          </a:p>
          <a:p>
            <a:pPr>
              <a:spcBef>
                <a:spcPts val="1400"/>
              </a:spcBef>
              <a:defRPr sz="1200">
                <a:solidFill>
                  <a:srgbClr val="64748B"/>
                </a:solidFill>
              </a:defRPr>
            </a:pPr>
            <a:r>
              <a:t>An automated system for group financial consolidation review, mathematical anomaly detection (IFRS 10 / PSAK 65 NCI &amp; IAS 24 / PSAK 7 Related-Parties), and internal audit sign-off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96696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Target Structure: Holding Foundation (Induk) &amp; 5 Operating Subsidiaries (Subsidiaries I – V)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Standards: IFRS 10 / PSAK 65 (NCI Attribution) &amp;bull; IAS 24 / PSAK 7 (Related-Party Transactions) &amp;bull; POJK Prudential Ratios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214"/>
                </a:solidFill>
              </a:defRPr>
            </a:pPr>
            <a:r>
              <a:t>PROBLEM STATEMENT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Multi-Entity Consolidation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28416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19656"/>
            <a:ext cx="288950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E11D48"/>
                </a:solidFill>
              </a:defRPr>
            </a:pPr>
            <a:r>
              <a:t>1. NCI Allocation Leakage (IFRS 10)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Minority interests (NCI 22% - 40%) across 4 operating subsidiaries are prone to manual calculation errors.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Case in Point: Subsidiary II reported NCI profit share of $24.4M vs. statutory share of $18.2M (+34.1% gap).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Material Impact: Distorts parent net income downwards or masks disguised profit extractions.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Traditional spreadsheets lack automated mathematical reconciliation of effective minority stakes.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0020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5696" y="1600200"/>
            <a:ext cx="3328416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819656"/>
            <a:ext cx="288950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D97706"/>
                </a:solidFill>
              </a:defRPr>
            </a:pPr>
            <a:r>
              <a:t>2. Related-Party Debt Spikes (IAS 24)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Intercompany receivables frequently surge without commensurate commercial revenue growth.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Case in Point: Subsidiary II related-party receivables spiked +158.8% YoY while revenues grew just +4.9%.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Severe Risk: Holding liquidity becomes trapped in affiliated entities under non-arms-length terms.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Increases intercompany elimination friction and triggers uncollectible debt exposure.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60020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328416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819656"/>
            <a:ext cx="288950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284C7"/>
                </a:solidFill>
              </a:defRPr>
            </a:pPr>
            <a:r>
              <a:t>3. Fragmented Audit Trails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Consolidation workpapers and variance inquiries are scattered across email threads and disconnected sheets.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The Audit Committee and Group CFO lack real-time visibility into anomaly resolution statuses.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No centralized tracking distinguishes accepted operational variances from required audit adjustments.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Critical errors are often discovered late during external auditor year-end field examinations.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214"/>
                </a:solidFill>
              </a:defRPr>
            </a:pPr>
            <a:r>
              <a:t>CORE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Dual-Engine Architecture: Precision Math + Cognitive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7315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19656"/>
            <a:ext cx="4681728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B4332"/>
                </a:solidFill>
              </a:defRPr>
            </a:pPr>
            <a:r>
              <a:t>Engine 1: Deterministic Accounting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100% Mathematical Precision: Rigorous aggregation of Revenues, Net Income, Assets, Liabilities, and Equity.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Automated Intercompany Eliminations: Standardized matrices eliminate cross-holdings and reciprocal debt.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Statutory NCI Attribution: Precise IFRS 10 formulas calculate parent earnings vs. minority equity claims.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Zero Black-Box Calculations: Every number is derived from transparent, reproducible accounting formulas.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Instant Dynamic Recalculation: Input modifications dynamically update solvency and profitability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120640" cy="73152"/>
          </a:xfrm>
          <a:prstGeom prst="roundRect">
            <a:avLst/>
          </a:prstGeom>
          <a:solidFill>
            <a:srgbClr val="B4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819656"/>
            <a:ext cx="4681728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B48214"/>
                </a:solidFill>
              </a:defRPr>
            </a:pPr>
            <a:r>
              <a:t>Engine 2: Cognitive AI Forensic Copilot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Conversational Copilot: Answers executive inquiries in natural, professional corporate finance language.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Forensic Root-Cause Reasoning: Translates raw numerical deltas into concrete audit and compliance risk rationales.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Actionable Review Workspace: Empowers auditors to mark items as Clarify, Audit Finding, or Approved.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Contextual Smart Navigation: Conversational insights feature direct jump buttons to highlighted review cards.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Prudential Benchmarking: Contextualizes group leverage (DER 0.96x) and returns (ROA 5.4%) against sector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214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5-Tier Technical Blueprint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066543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066543" cy="731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19656"/>
            <a:ext cx="1627631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F172A"/>
                </a:solidFill>
              </a:defRPr>
            </a:pPr>
            <a:r>
              <a:t>Tier 1: Ingestion Layer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ERP / SAP / Oracle GL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Excel &amp; XBRL Ingestor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CY &amp; PY Data Sanity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600200"/>
            <a:ext cx="2066543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44368" y="1600200"/>
            <a:ext cx="2066543" cy="7315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819656"/>
            <a:ext cx="1627631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B4332"/>
                </a:solidFill>
              </a:defRPr>
            </a:pPr>
            <a:r>
              <a:t>Tier 2: Consolidation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Multi-Entity Aggregator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Elimination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IFRS 10 NCI Attribution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7216" y="1600200"/>
            <a:ext cx="2066543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57216" y="1600200"/>
            <a:ext cx="2066543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1819656"/>
            <a:ext cx="1627631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E11D48"/>
                </a:solidFill>
              </a:defRPr>
            </a:pPr>
            <a:r>
              <a:t>Tier 3: Forensic Rules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NCI Mismatch Vector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Related-Party Spike Detector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Leverage &amp; Margin Scanners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70064" y="1600200"/>
            <a:ext cx="2066543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70064" y="1600200"/>
            <a:ext cx="2066543" cy="73152"/>
          </a:xfrm>
          <a:prstGeom prst="roundRect">
            <a:avLst/>
          </a:prstGeom>
          <a:solidFill>
            <a:srgbClr val="B4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819656"/>
            <a:ext cx="1627631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B48214"/>
                </a:solidFill>
              </a:defRPr>
            </a:pPr>
            <a:r>
              <a:t>Tier 4: AI Copilot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Multi-Agent Orchestrator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Forensic Explainer Agent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Regulatory Benchmark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2912" y="1600200"/>
            <a:ext cx="2066543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82912" y="1600200"/>
            <a:ext cx="2066543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8" y="1819656"/>
            <a:ext cx="1627631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284C7"/>
                </a:solidFill>
              </a:defRPr>
            </a:pPr>
            <a:r>
              <a:t>Tier 5: Review UI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Interactive Split View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Review Decision Cards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Formal Sign-off &amp; PDF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214"/>
                </a:solidFill>
              </a:defRPr>
            </a:pPr>
            <a:r>
              <a:t>QUANTITATIVE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Forensic Anomaly Detection Engine: Vectors &amp; Thresholds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0058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10332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11D48"/>
                </a:solidFill>
              </a:defRPr>
            </a:pPr>
            <a:r>
              <a:t>1. NCI Profit Allocation Disparity  [CRITICAL]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Formula: |Reported NCI - Computed NCI| &gt; 8%   •   Audit Objective: Prevents parent income distortion and safeguards minority shareholder dividend equity under IFRS 10 / PSAK 65.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728655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73152" cy="10058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52928"/>
            <a:ext cx="10332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E11D48"/>
                </a:solidFill>
              </a:defRPr>
            </a:pPr>
            <a:r>
              <a:t>2. Related-Party Debt Acceleration  [CRITICAL]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Formula: ΔRP Receivables - ΔRevenue &gt; 30%   •   Audit Objective: Detects liquidity outflows into affiliated entities and halts hidden internal non-performing debt under IAS 24 / PSAK 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10728655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95928"/>
            <a:ext cx="10332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t>3. Sudden Leverage / DER Escalation  [MEDIUM]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Formula: DER CY / DER PY - 1 &gt; 18%   •   Audit Objective: Monitors subsidiary debt growth before debt-to-equity ratios breach bank debt covenants or regulatory limits.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73152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38928"/>
            <a:ext cx="1033272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D9488"/>
                </a:solidFill>
              </a:defRPr>
            </a:pPr>
            <a:r>
              <a:t>4. Profit Margin Distortion  [MODERATE]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Formula: |Margin CY - Margin PY| ≥ 3.5 pp   •   Audit Objective: Verifies whether margin expansion/compression stems from genuine operations or one-off artificial transactions.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214"/>
                </a:solidFill>
              </a:defRPr>
            </a:pPr>
            <a:r>
              <a:t>AUDIT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Actionable Review Workspace: Human-in-the-Loop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6032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60320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19656"/>
            <a:ext cx="2121408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E11D48"/>
                </a:solidFill>
              </a:defRPr>
            </a:pPr>
            <a:r>
              <a:t>Step 1: Automated Flagging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Rule Engine scans all 6 entities instantly.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Anomalies classified by severity: Critical, Medium, Moderate.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Dynamic badges populate the review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600200"/>
            <a:ext cx="256032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8144" y="1600200"/>
            <a:ext cx="2560320" cy="73152"/>
          </a:xfrm>
          <a:prstGeom prst="roundRect">
            <a:avLst/>
          </a:prstGeom>
          <a:solidFill>
            <a:srgbClr val="B4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19656"/>
            <a:ext cx="2121408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B48214"/>
                </a:solidFill>
              </a:defRPr>
            </a:pPr>
            <a:r>
              <a:t>Step 2: AI Reasoning &amp; Impact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AI Agent derives analytical root causes and accounting impact.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Relevant IFRS 10 / IAS 24 standards cited.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Conversational Copilot delivers instant executive briefs.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00200"/>
            <a:ext cx="256032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44768" y="1600200"/>
            <a:ext cx="2560320" cy="7315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819656"/>
            <a:ext cx="2121408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B4332"/>
                </a:solidFill>
              </a:defRPr>
            </a:pPr>
            <a:r>
              <a:t>Step 3: Auditor Decisions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Auditor selects status: Clarify / Audit Finding / Approved.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Input field records auditor remarks &amp; requested documentation.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One-click 'Request Clarification' logs notice to subsidiary.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1392" y="1600200"/>
            <a:ext cx="256032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51392" y="1600200"/>
            <a:ext cx="256032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819656"/>
            <a:ext cx="2121408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284C7"/>
                </a:solidFill>
              </a:defRPr>
            </a:pPr>
            <a:r>
              <a:t>Step 4: Formal Sign-off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Real-time tracking: X of Y anomalies reviewed.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Formal sign-off locks workpaper with timestamp.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One-click clean print to PDF ready for the Audit Committee.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214"/>
                </a:solidFill>
              </a:defRPr>
            </a:pPr>
            <a:r>
              <a:t>PRUDENTIAL RATIOS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Consolidated Financial Health vs. Sectoral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28416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19656"/>
            <a:ext cx="28895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Solvency (DER)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</a:defRPr>
            </a:pPr>
            <a:r>
              <a:t>Consolidated: 0.96x</a:t>
            </a:r>
            <a:br/>
            <a:r>
              <a:t>Regulatory Ceiling: Max 5.0x</a:t>
            </a:r>
          </a:p>
          <a:p>
            <a:pPr>
              <a:spcAft>
                <a:spcPts val="1000"/>
              </a:spcAft>
              <a:defRPr sz="1000" b="1">
                <a:solidFill>
                  <a:srgbClr val="0D9488"/>
                </a:solidFill>
              </a:defRPr>
            </a:pPr>
            <a:r>
              <a:t>STATUS: HIGHLY CONSERVATIVE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Capital structure provides ample liquidity buffer for operational growth.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Well below regulatory leverage thresholds for financial institutions.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00200"/>
            <a:ext cx="3328416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6552" y="1600200"/>
            <a:ext cx="3328416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819656"/>
            <a:ext cx="28895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Profitability (ROA)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</a:defRPr>
            </a:pPr>
            <a:r>
              <a:t>Consolidated: 5.4%</a:t>
            </a:r>
            <a:br/>
            <a:r>
              <a:t>Industry Average: 3.5% - 5.2%</a:t>
            </a:r>
          </a:p>
          <a:p>
            <a:pPr>
              <a:spcAft>
                <a:spcPts val="1000"/>
              </a:spcAft>
              <a:defRPr sz="1000" b="1">
                <a:solidFill>
                  <a:srgbClr val="0D9488"/>
                </a:solidFill>
              </a:defRPr>
            </a:pPr>
            <a:r>
              <a:t>STATUS: OUTPERFORMING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Group asset return sits in the upper quartile of microfinance peers.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Consolidated Net Income expanded +14.2% YoY ($325M vs $284.7M).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600200"/>
            <a:ext cx="3328416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01584" y="1600200"/>
            <a:ext cx="3328416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19656"/>
            <a:ext cx="288950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Affiliated Debt (RP)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</a:defRPr>
            </a:pPr>
            <a:r>
              <a:t>Total RP Receivables: $241M</a:t>
            </a:r>
            <a:br/>
            <a:r>
              <a:t>Share of Total Assets: 4.3%</a:t>
            </a:r>
          </a:p>
          <a:p>
            <a:pPr>
              <a:spcAft>
                <a:spcPts val="1000"/>
              </a:spcAft>
              <a:defRPr sz="1000" b="1">
                <a:solidFill>
                  <a:srgbClr val="D97706"/>
                </a:solidFill>
              </a:defRPr>
            </a:pPr>
            <a:r>
              <a:t>STATUS: CONCENTRATION WATCH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Aggregate exposure is proportional to balance sheet scale.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However, concentration at Subsidiary II ($88M) warrants tight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214"/>
                </a:solidFill>
              </a:defRPr>
            </a:pPr>
            <a:r>
              <a:t>VALUE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Stakeholder Expectation Alignment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4864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48214"/>
                </a:solidFill>
              </a:defRPr>
            </a:pPr>
            <a:r>
              <a:t>AUDIT COMMITTEE / BOARD OF SUPERVISORS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Expectation: "Prevent material misstatements &amp; NCI leakage prior to external audits."  ➔  Delivery: Automated IFRS 10 rule engine verifies profit distribution &amp; flags critical anomalies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4864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48214"/>
                </a:solidFill>
              </a:defRPr>
            </a:pPr>
            <a:r>
              <a:t>GROUP CHIEF FINANCIAL OFFICER (CFO)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Expectation: "Accelerate group consolidation closing cycles with zero arithmetic risk."  ➔  Delivery: Dynamic KPI summaries, instant sensitivity simulations, and executive board-ready memos.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54864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48214"/>
                </a:solidFill>
              </a:defRPr>
            </a:pPr>
            <a:r>
              <a:t>INTERNAL AUDIT LEADERSHIP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Expectation: "Maintain structured electronic workpapers with traceable sign-offs."  ➔  Delivery: Actionable Review Workspace with item status toggles, auditor notes, and timestamped audit trails.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54864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7083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48214"/>
                </a:solidFill>
              </a:defRPr>
            </a:pPr>
            <a:r>
              <a:t>SUBSIDIARY CFOS (OPERATING UNITS)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Expectation: "Ensure transparent, fair elimination and reconciliation calculations."  ➔  Delivery: Line-by-line breakdown of all variances enables rapid cross-checking against subsidiary general ledgers.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54864" cy="8229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85232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B48214"/>
                </a:solidFill>
              </a:defRPr>
            </a:pPr>
            <a:r>
              <a:t>IT &amp; DATA GOVERNANCE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Expectation: "Strict data privacy with no exposure of unreleased financials to public LLMs."  ➔  Delivery: Runs entirely client-side/on-premise; append-only point-in-time snapshot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214"/>
                </a:solidFill>
              </a:defRPr>
            </a:pPr>
            <a:r>
              <a:t>DEPLOYMENT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Phased Enterprise Implementation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28416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19656"/>
            <a:ext cx="288950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D9488"/>
                </a:solidFill>
              </a:defRPr>
            </a:pPr>
            <a:r>
              <a:t>Phase 1: Working PoC (Delivered)</a:t>
            </a:r>
            <a:br/>
            <a:r>
              <a:t>(Month 1)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Consolidation rule engine validated for 6 entities.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Conversational AI Copilot with quick-action chips.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Actionable 'Review Workspace' for anomaly tracking.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Self-contained local execution &amp; GitHub repository.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0020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6552" y="1600200"/>
            <a:ext cx="3328416" cy="73152"/>
          </a:xfrm>
          <a:prstGeom prst="roundRect">
            <a:avLst/>
          </a:prstGeom>
          <a:solidFill>
            <a:srgbClr val="B4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819656"/>
            <a:ext cx="288950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B48214"/>
                </a:solidFill>
              </a:defRPr>
            </a:pPr>
            <a:r>
              <a:t>Phase 2: Integration &amp; Pilot</a:t>
            </a:r>
            <a:br/>
            <a:r>
              <a:t>(Months 2 - 3)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Direct ERP/GL database connectors (SAP/Oracle).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Immutable point-in-time snapshot database store.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Automated email/chat notification dispatch to subsidiaries.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Parallel dry-run benchmarked against prior-year audited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60020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01584" y="1600200"/>
            <a:ext cx="3328416" cy="7315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19656"/>
            <a:ext cx="288950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B4332"/>
                </a:solidFill>
              </a:defRPr>
            </a:pPr>
            <a:r>
              <a:t>Phase 3: Full Enterprise Rollout</a:t>
            </a:r>
            <a:br/>
            <a:r>
              <a:t>(Month 4+)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Multi-tenant Role-Based Access Control (RBAC) &amp; SSO.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Transaction-level automated intercompany elimination.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Dedicated secure portal for external audit review teams.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Continuous group-wide financial health telemetry.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8214"/>
                </a:solidFill>
              </a:defRPr>
            </a:pPr>
            <a:r>
              <a:t>STRATEGIC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Value Proposition &amp; Recommended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28416" cy="73152"/>
          </a:xfrm>
          <a:prstGeom prst="round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819656"/>
            <a:ext cx="288950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B4332"/>
                </a:solidFill>
              </a:defRPr>
            </a:pPr>
            <a:r>
              <a:t>60% Faster Closing Cycle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Automated anomaly screening eliminates tedious manual spreadsheet reconciliations.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Immediate flagging of NCI disparities removes late-stage closing bottlenecks.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60020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6552" y="1600200"/>
            <a:ext cx="3328416" cy="73152"/>
          </a:xfrm>
          <a:prstGeom prst="roundRect">
            <a:avLst/>
          </a:prstGeom>
          <a:solidFill>
            <a:srgbClr val="B48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819656"/>
            <a:ext cx="288950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B48214"/>
                </a:solidFill>
              </a:defRPr>
            </a:pPr>
            <a:r>
              <a:t>100% Audit Readiness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Continuous adherence to IFRS 10 (NCI) and IAS 24 (Related Parties).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Complete digital audit trail protects holding executives and board members.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600200"/>
            <a:ext cx="3328416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01584" y="1600200"/>
            <a:ext cx="3328416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19656"/>
            <a:ext cx="288950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284C7"/>
                </a:solidFill>
              </a:defRPr>
            </a:pPr>
            <a:r>
              <a:t>Recommended Next Steps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1. Present PoC findings to the Audit Committee and Group CFO.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2. Execute pilot validation using 2025 audited financial statements.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3. Establish direct subsidiary GL connectors for automated data feeds.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